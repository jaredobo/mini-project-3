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70" r:id="rId6"/>
    <p:sldId id="266" r:id="rId7"/>
    <p:sldId id="267" r:id="rId8"/>
    <p:sldId id="260" r:id="rId9"/>
    <p:sldId id="269" r:id="rId10"/>
    <p:sldId id="259" r:id="rId11"/>
    <p:sldId id="261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06"/>
  </p:normalViewPr>
  <p:slideViewPr>
    <p:cSldViewPr snapToGrid="0">
      <p:cViewPr varScale="1">
        <p:scale>
          <a:sx n="197" d="100"/>
          <a:sy n="197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9/26/24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9B94-3F97-5779-B5B6-79B1EE76BD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credit card approval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3F04E-0BAD-B653-429A-FBD56431B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Jared </a:t>
            </a:r>
            <a:r>
              <a:rPr lang="en-US" dirty="0" err="1"/>
              <a:t>obozele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5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E2B5C8-FA91-5402-DEC7-71A17B6E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212B06-A6B0-9992-FC9A-71501EB8D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Background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Analysis of Dataset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Model 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Best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Conclusion &amp; Next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4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43F5-2C58-AB6B-654A-835C3FB7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18F39-19EF-6214-5FD1-213C4630B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Datasets</a:t>
            </a:r>
          </a:p>
          <a:p>
            <a:pPr lvl="1"/>
            <a:r>
              <a:rPr lang="en-US" dirty="0"/>
              <a:t>Credit Card Application Dataset</a:t>
            </a:r>
          </a:p>
          <a:p>
            <a:pPr lvl="1"/>
            <a:r>
              <a:rPr lang="en-US" dirty="0"/>
              <a:t>Credit Record Dataset</a:t>
            </a:r>
          </a:p>
          <a:p>
            <a:r>
              <a:rPr lang="en-US" dirty="0"/>
              <a:t>Credit Record and Application factors combine to make decision on whether a person is deemed in good standing for approval or not</a:t>
            </a:r>
          </a:p>
          <a:p>
            <a:r>
              <a:rPr lang="en-US" dirty="0"/>
              <a:t>The Datasets need to be merged after analysis to be begin model predictions</a:t>
            </a:r>
          </a:p>
          <a:p>
            <a:r>
              <a:rPr lang="en-US" dirty="0"/>
              <a:t>21 columns and over 400,000 rows of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24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8FF6-56CC-7201-6A1E-9D8CE2B38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824A-6C67-BDD2-ED52-E8065F7C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9FDD1-2279-315D-7357-45F417429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32500" lnSpcReduction="20000"/>
          </a:bodyPr>
          <a:lstStyle/>
          <a:p>
            <a:r>
              <a:rPr lang="en-US" sz="6200" b="0" dirty="0">
                <a:effectLst/>
                <a:latin typeface="Tw Cen MT" panose="020B0602020104020603" pitchFamily="34" charset="77"/>
              </a:rPr>
              <a:t>STATUS -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0: 1-29 days past due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1: 30-59 days past due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2: 60-89 days overdue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3: 90-119 days overdue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4: 120-149 days overdue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5: Overdue or bad debts, write-offs for more than 150 days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C: paid off that month </a:t>
            </a:r>
          </a:p>
          <a:p>
            <a:r>
              <a:rPr lang="en-US" sz="6200" b="0" dirty="0">
                <a:effectLst/>
                <a:latin typeface="Tw Cen MT" panose="020B0602020104020603" pitchFamily="34" charset="77"/>
              </a:rPr>
              <a:t>X: No loan for the month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9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E9534-FD6A-30C6-CFB7-3D8DB018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CC6F-3E64-5D1F-316D-829CDB9C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F021-5F06-D89B-A481-B1F6411A6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813203"/>
          </a:xfrm>
        </p:spPr>
        <p:txBody>
          <a:bodyPr>
            <a:normAutofit/>
          </a:bodyPr>
          <a:lstStyle/>
          <a:p>
            <a:r>
              <a:rPr lang="en-US" dirty="0"/>
              <a:t>Previous models used: Logistic Regression, Perceptron, Gaussian – Naïve Bayes</a:t>
            </a:r>
          </a:p>
        </p:txBody>
      </p:sp>
    </p:spTree>
    <p:extLst>
      <p:ext uri="{BB962C8B-B14F-4D97-AF65-F5344CB8AC3E}">
        <p14:creationId xmlns:p14="http://schemas.microsoft.com/office/powerpoint/2010/main" val="228044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7B1D-B967-BF7C-6191-6CB315A0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F1B9-7DC2-AAE5-2457-424A9488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418"/>
            <a:ext cx="9905998" cy="1478570"/>
          </a:xfrm>
        </p:spPr>
        <p:txBody>
          <a:bodyPr/>
          <a:lstStyle/>
          <a:p>
            <a:r>
              <a:rPr lang="en-US" dirty="0"/>
              <a:t>Analysis of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1D466-5953-61E5-70DB-465D4FA4ED09}"/>
              </a:ext>
            </a:extLst>
          </p:cNvPr>
          <p:cNvSpPr txBox="1"/>
          <p:nvPr/>
        </p:nvSpPr>
        <p:spPr>
          <a:xfrm>
            <a:off x="2790940" y="910153"/>
            <a:ext cx="661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 Card Application Data</a:t>
            </a:r>
          </a:p>
        </p:txBody>
      </p:sp>
      <p:pic>
        <p:nvPicPr>
          <p:cNvPr id="5" name="Picture 4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61EB6012-C902-5EB9-294C-3A157C21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1940"/>
            <a:ext cx="10248458" cy="1934409"/>
          </a:xfrm>
          <a:prstGeom prst="rect">
            <a:avLst/>
          </a:prstGeom>
        </p:spPr>
      </p:pic>
      <p:pic>
        <p:nvPicPr>
          <p:cNvPr id="8" name="Picture 7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9C5FB12A-6465-8533-BC33-E1335D0A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7895"/>
            <a:ext cx="9889570" cy="1750365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1D4D964D-D175-16A7-2834-0431EF3A9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695" y="5130028"/>
            <a:ext cx="2434483" cy="172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1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73110-322A-9C2A-0E2C-2C08D221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5DD04-024A-C344-329C-A91D17E9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A99AC-DAC3-8552-0DE0-E07F1D1D26B2}"/>
              </a:ext>
            </a:extLst>
          </p:cNvPr>
          <p:cNvSpPr txBox="1"/>
          <p:nvPr/>
        </p:nvSpPr>
        <p:spPr>
          <a:xfrm>
            <a:off x="2789352" y="1727756"/>
            <a:ext cx="661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Credit Card Record Data</a:t>
            </a:r>
          </a:p>
        </p:txBody>
      </p:sp>
      <p:pic>
        <p:nvPicPr>
          <p:cNvPr id="5" name="Picture 4" descr="A black and white table with white text&#10;&#10;Description automatically generated">
            <a:extLst>
              <a:ext uri="{FF2B5EF4-FFF2-40B4-BE49-F238E27FC236}">
                <a16:creationId xmlns:a16="http://schemas.microsoft.com/office/drawing/2014/main" id="{37AC1DBB-A50A-0BB1-F668-750546909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067" y="2607921"/>
            <a:ext cx="4649865" cy="215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1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9100-9590-1E7C-A55A-2752D984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EB5C-3E5C-F270-F06A-ADBCFE82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6526C-DE66-B377-7A3E-330510F65747}"/>
              </a:ext>
            </a:extLst>
          </p:cNvPr>
          <p:cNvSpPr txBox="1"/>
          <p:nvPr/>
        </p:nvSpPr>
        <p:spPr>
          <a:xfrm>
            <a:off x="2789352" y="1727756"/>
            <a:ext cx="661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Distribution of Income by Age and Gender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7AE52-31E2-1935-2215-C22820406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850" y="2255952"/>
            <a:ext cx="7106300" cy="399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9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1AF2-5F22-9B29-5DA5-A913CAF8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E8941-046D-677D-D695-802A698C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710FD-DE02-519B-BE51-00C0844FB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787" y="167761"/>
            <a:ext cx="5122862" cy="652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CF6ABD-131C-28EB-C690-A5DEC466B813}"/>
              </a:ext>
            </a:extLst>
          </p:cNvPr>
          <p:cNvSpPr txBox="1"/>
          <p:nvPr/>
        </p:nvSpPr>
        <p:spPr>
          <a:xfrm>
            <a:off x="222422" y="1727756"/>
            <a:ext cx="661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Income by Family Status</a:t>
            </a:r>
          </a:p>
        </p:txBody>
      </p:sp>
    </p:spTree>
    <p:extLst>
      <p:ext uri="{BB962C8B-B14F-4D97-AF65-F5344CB8AC3E}">
        <p14:creationId xmlns:p14="http://schemas.microsoft.com/office/powerpoint/2010/main" val="2246682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5EFA-BFC1-C246-B7C0-B20964A21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13" y="171450"/>
            <a:ext cx="9905998" cy="1478570"/>
          </a:xfrm>
        </p:spPr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4F964-865D-5E43-B1DF-77891F6BF1C4}"/>
              </a:ext>
            </a:extLst>
          </p:cNvPr>
          <p:cNvSpPr txBox="1"/>
          <p:nvPr/>
        </p:nvSpPr>
        <p:spPr>
          <a:xfrm>
            <a:off x="754058" y="2013473"/>
            <a:ext cx="2974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Stacking Classifier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3135A-2145-A8D1-F7A5-F5AEDDDE39E1}"/>
              </a:ext>
            </a:extLst>
          </p:cNvPr>
          <p:cNvSpPr txBox="1"/>
          <p:nvPr/>
        </p:nvSpPr>
        <p:spPr>
          <a:xfrm>
            <a:off x="5065712" y="202723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Decision Tree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8E36F-9FBB-74A2-A3F0-D8AD3ABDF1BC}"/>
              </a:ext>
            </a:extLst>
          </p:cNvPr>
          <p:cNvSpPr txBox="1"/>
          <p:nvPr/>
        </p:nvSpPr>
        <p:spPr>
          <a:xfrm>
            <a:off x="9363076" y="2027238"/>
            <a:ext cx="226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Forest Model</a:t>
            </a:r>
          </a:p>
        </p:txBody>
      </p:sp>
      <p:pic>
        <p:nvPicPr>
          <p:cNvPr id="14" name="Picture 13" descr="A screen shot of a computer&#10;&#10;Description automatically generated">
            <a:extLst>
              <a:ext uri="{FF2B5EF4-FFF2-40B4-BE49-F238E27FC236}">
                <a16:creationId xmlns:a16="http://schemas.microsoft.com/office/drawing/2014/main" id="{B59FFBCC-6171-FF0A-BE6F-CB58A4E0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6" y="2431933"/>
            <a:ext cx="4052064" cy="4282094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B9DDA4F0-5066-F809-1B7F-03E7F2C2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388" y="2699198"/>
            <a:ext cx="3850447" cy="3510452"/>
          </a:xfrm>
          <a:prstGeom prst="rect">
            <a:avLst/>
          </a:prstGeom>
        </p:spPr>
      </p:pic>
      <p:pic>
        <p:nvPicPr>
          <p:cNvPr id="18" name="Picture 1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1002E1C-76D2-54C9-9C3A-08FC5E1F3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43" y="2579304"/>
            <a:ext cx="3850447" cy="39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39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4503-0678-60BC-054F-981F2F01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174B-A94C-9741-B8E2-65E7B320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Performing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42EE-8784-8910-973D-D9D296AD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Model: Accuracy 98.183%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48D91-6E71-A654-AAAB-8EC6BFC8E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014" y="2097088"/>
            <a:ext cx="4404862" cy="442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81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013BB-977F-7630-CBA9-47CFA8B17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6793-B4D3-C4C6-B0B4-62EE1478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07056-B240-037A-6FDE-51B10F456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performed the best as expected</a:t>
            </a:r>
          </a:p>
          <a:p>
            <a:r>
              <a:rPr lang="en-US" dirty="0"/>
              <a:t>Logistic Regression struggled to improve performance with boosting on the data and only showed improvement when becoming a base learner to random forest, decision tree, and perceptron weak learners</a:t>
            </a:r>
          </a:p>
          <a:p>
            <a:r>
              <a:rPr lang="en-US" dirty="0"/>
              <a:t>Need to analyze overfitting due to such strong model performance</a:t>
            </a:r>
          </a:p>
          <a:p>
            <a:pPr lvl="1"/>
            <a:r>
              <a:rPr lang="en-US" dirty="0"/>
              <a:t>Data could be cleaned and organized better during this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658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B466-96BD-D765-AA69-28E5ABCD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Thank you For listening! Questions?</a:t>
            </a:r>
          </a:p>
        </p:txBody>
      </p:sp>
    </p:spTree>
    <p:extLst>
      <p:ext uri="{BB962C8B-B14F-4D97-AF65-F5344CB8AC3E}">
        <p14:creationId xmlns:p14="http://schemas.microsoft.com/office/powerpoint/2010/main" val="853930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1159</TotalTime>
  <Words>264</Words>
  <Application>Microsoft Macintosh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Predicting credit card approval</vt:lpstr>
      <vt:lpstr>Agenda</vt:lpstr>
      <vt:lpstr>Background</vt:lpstr>
      <vt:lpstr>Background</vt:lpstr>
      <vt:lpstr>Background</vt:lpstr>
      <vt:lpstr>Analysis of Datasets</vt:lpstr>
      <vt:lpstr>Analysis of Datasets</vt:lpstr>
      <vt:lpstr>Analysis of Datasets</vt:lpstr>
      <vt:lpstr>Analysis of Datasets</vt:lpstr>
      <vt:lpstr>Model comparison</vt:lpstr>
      <vt:lpstr>Best Performing Model</vt:lpstr>
      <vt:lpstr>Conclusions &amp; Next steps</vt:lpstr>
      <vt:lpstr>Thank you For listening!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Jared Obozele</dc:creator>
  <cp:lastModifiedBy>Jared Obozele</cp:lastModifiedBy>
  <cp:revision>2</cp:revision>
  <dcterms:created xsi:type="dcterms:W3CDTF">2024-09-24T19:48:11Z</dcterms:created>
  <dcterms:modified xsi:type="dcterms:W3CDTF">2024-09-27T14:09:28Z</dcterms:modified>
</cp:coreProperties>
</file>